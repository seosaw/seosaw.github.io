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65"/>
    <p:restoredTop sz="94694"/>
  </p:normalViewPr>
  <p:slideViewPr>
    <p:cSldViewPr snapToGrid="0">
      <p:cViewPr>
        <p:scale>
          <a:sx n="75" d="100"/>
          <a:sy n="75" d="100"/>
        </p:scale>
        <p:origin x="129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964F-0B42-D303-D03D-F14B1CB20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42398-3669-2C78-6F85-2F04C7B7A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61A38-6BAC-61EA-F042-6541940E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CE0BE-75C4-165F-0B74-898E8600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F2BB0-1C63-30CD-0BF2-927366E0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D2519-25C9-4339-D3B3-75E62C044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BDCCD-E80F-C590-BF5C-A3F516CCF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0A9E7-C488-1807-41C4-367242FDE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6A35E-B6B3-AC18-06D5-1DF31337D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947F6-E918-06C8-FE2C-5B9F4C69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82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CADE-57B1-B9C9-4B70-9131C1C1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37B7D-67BD-627D-9B8D-1DF4321B7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B61C0-8746-73EB-552E-3AB10FA5E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509F0-B3FE-9B49-0406-11C56FAC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9735A-A397-C286-AC04-4DCD370A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2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A8614-9DF9-3568-44AA-5449455C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8FEB-1D69-C401-46A0-DC6364E4C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2C596-B22C-2D2C-D396-2FD93390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15C25-AF3A-83D4-ED20-1FF510164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939EE-2014-F682-043F-81245AE5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3EE5D-0E13-B7D4-7358-0D9D4795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6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0E8C-6B51-AFCA-7402-63A5E234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0E847-8E2A-AA4E-C15F-E99FC0719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D7A38-12C8-BD28-CA82-FFC91EE09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8F3DB-13BD-488A-D052-F4CB9EB9F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820D1-9203-AF1C-ECC2-DEBEF9433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ABD065-295F-396B-FA42-6EADD3539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DE9E6-8FDB-B533-D212-9CBFAC60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253DB-C891-5B30-AC4A-73BC4C7C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1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6DED5-8C68-F407-3514-5848D2FB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5B7ABE-E009-EEB4-2BA6-BC0EF79B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2489C4-82D0-240D-0191-1B8F2184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A5F83-1D77-ED9C-D198-BC2CC470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5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BB427-8B32-CEFB-4FE3-7D432C23A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69B7B9-8E35-4391-90C9-28F96CFC4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D87A5-7697-5EFD-F0B9-3404DF216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9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5ED49-A3C8-9B86-B6E3-242DEC90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6CBBF-95C2-CCB2-72B2-5390BC51F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FBC04-E667-ADF6-F2B2-8A7668610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943CF-B98B-F13C-ABAE-0D68AD4C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BD4C1-5D88-0025-C3DF-EDE6EBAF7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F734F-4360-4D57-C562-03D6B304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4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DC76-266B-97A0-FAB1-3554BC647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5556C-CE36-CC19-09C8-6C940F3598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A3299-5728-287B-2E30-48A2B2D08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F2990-14CE-9959-9BC4-E5E301003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EF213-5237-A7EA-7EB1-D24BF126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4D7F3-00DB-2333-3EF3-64271C4D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4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5880-F311-1B04-A2BD-9B9C3F3F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9D759-A8E0-38C7-BFAC-6B754792D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A2D72-B4FB-1955-855A-FF89494ED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BC164-70DB-F68A-8586-AAC9B10C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F919F-393E-ECC0-9C94-0BDADEB5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1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CA743-9790-1FAD-64DB-5426B9509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24549-EF77-8E55-02FE-AA0A90B84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85218-817B-032A-99EB-728B0728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73CB2-FAE8-0B52-3440-7A20D673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2B977-C130-25A9-ADEF-C528EAEA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53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73117-A233-5025-14F7-080173F6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46AC4-A764-B5F4-F0DF-25D2F0E8B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A3332-34A4-6FE6-E517-CD8101F6B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5AF7F-4CB6-3640-88CF-D8A64F8CED3D}" type="datetimeFigureOut">
              <a:rPr lang="en-US" smtClean="0"/>
              <a:t>7/27/23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3B723-D98B-4D04-0A41-EBBFCC97D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0B6E-3A8E-0399-05E6-770D856B6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C126D-E1DD-1F40-8798-3ECD0E576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0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y pyramid shaped object&#10;&#10;Description automatically generated">
            <a:extLst>
              <a:ext uri="{FF2B5EF4-FFF2-40B4-BE49-F238E27FC236}">
                <a16:creationId xmlns:a16="http://schemas.microsoft.com/office/drawing/2014/main" id="{CEE2330F-3C1F-8148-2482-68C2A87CBE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1" t="3402" r="5287" b="3805"/>
          <a:stretch/>
        </p:blipFill>
        <p:spPr>
          <a:xfrm>
            <a:off x="670702" y="660399"/>
            <a:ext cx="2458995" cy="1272745"/>
          </a:xfrm>
          <a:prstGeom prst="rect">
            <a:avLst/>
          </a:prstGeom>
        </p:spPr>
      </p:pic>
      <p:pic>
        <p:nvPicPr>
          <p:cNvPr id="7" name="Picture 6" descr="A black and white image of a circle with a cross&#10;&#10;Description automatically generated">
            <a:extLst>
              <a:ext uri="{FF2B5EF4-FFF2-40B4-BE49-F238E27FC236}">
                <a16:creationId xmlns:a16="http://schemas.microsoft.com/office/drawing/2014/main" id="{E9891268-BE27-C101-C6F7-D59838B7C4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24" t="896" r="4162" b="3153"/>
          <a:stretch/>
        </p:blipFill>
        <p:spPr>
          <a:xfrm>
            <a:off x="4759728" y="129055"/>
            <a:ext cx="2434281" cy="2335427"/>
          </a:xfrm>
          <a:prstGeom prst="rect">
            <a:avLst/>
          </a:prstGeom>
        </p:spPr>
      </p:pic>
      <p:pic>
        <p:nvPicPr>
          <p:cNvPr id="9" name="Picture 8" descr="A black and white image of a circular object&#10;&#10;Description automatically generated">
            <a:extLst>
              <a:ext uri="{FF2B5EF4-FFF2-40B4-BE49-F238E27FC236}">
                <a16:creationId xmlns:a16="http://schemas.microsoft.com/office/drawing/2014/main" id="{C014F547-4830-A5BF-E473-6FCAF20AAC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52" t="12641" r="2703" b="9215"/>
          <a:stretch/>
        </p:blipFill>
        <p:spPr>
          <a:xfrm>
            <a:off x="8354044" y="675202"/>
            <a:ext cx="3793524" cy="1260390"/>
          </a:xfrm>
          <a:prstGeom prst="rect">
            <a:avLst/>
          </a:prstGeom>
        </p:spPr>
      </p:pic>
      <p:pic>
        <p:nvPicPr>
          <p:cNvPr id="11" name="Picture 10" descr="A group of grey objects&#10;&#10;Description automatically generated">
            <a:extLst>
              <a:ext uri="{FF2B5EF4-FFF2-40B4-BE49-F238E27FC236}">
                <a16:creationId xmlns:a16="http://schemas.microsoft.com/office/drawing/2014/main" id="{84289CE7-B590-B18B-EC15-3FD31349050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21" t="2728" r="2905" b="3054"/>
          <a:stretch/>
        </p:blipFill>
        <p:spPr>
          <a:xfrm>
            <a:off x="8459072" y="3175000"/>
            <a:ext cx="3583459" cy="1890584"/>
          </a:xfrm>
          <a:prstGeom prst="rect">
            <a:avLst/>
          </a:prstGeom>
        </p:spPr>
      </p:pic>
      <p:pic>
        <p:nvPicPr>
          <p:cNvPr id="12" name="Picture 11" descr="A grey pyramid shaped object&#10;&#10;Description automatically generated">
            <a:extLst>
              <a:ext uri="{FF2B5EF4-FFF2-40B4-BE49-F238E27FC236}">
                <a16:creationId xmlns:a16="http://schemas.microsoft.com/office/drawing/2014/main" id="{BE8C0B0B-8B61-93E4-1A84-3D21AE379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1" t="3402" r="5287" b="3805"/>
          <a:stretch/>
        </p:blipFill>
        <p:spPr>
          <a:xfrm flipH="1">
            <a:off x="5016452" y="3653440"/>
            <a:ext cx="1803945" cy="93369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610F75-E388-2A9E-7FB2-ECF36E3C3B04}"/>
              </a:ext>
            </a:extLst>
          </p:cNvPr>
          <p:cNvCxnSpPr>
            <a:cxnSpLocks/>
          </p:cNvCxnSpPr>
          <p:nvPr/>
        </p:nvCxnSpPr>
        <p:spPr>
          <a:xfrm>
            <a:off x="3555046" y="1305397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B453-B16A-1AEE-40AD-92F510C71CC9}"/>
              </a:ext>
            </a:extLst>
          </p:cNvPr>
          <p:cNvCxnSpPr>
            <a:cxnSpLocks/>
          </p:cNvCxnSpPr>
          <p:nvPr/>
        </p:nvCxnSpPr>
        <p:spPr>
          <a:xfrm>
            <a:off x="7384961" y="1296769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A0DBAB-DF0E-5C74-151E-57BA24DFA708}"/>
              </a:ext>
            </a:extLst>
          </p:cNvPr>
          <p:cNvCxnSpPr>
            <a:cxnSpLocks/>
          </p:cNvCxnSpPr>
          <p:nvPr/>
        </p:nvCxnSpPr>
        <p:spPr>
          <a:xfrm rot="5400000">
            <a:off x="9766260" y="2464481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Graphic 80" descr="Tick with solid fill">
            <a:extLst>
              <a:ext uri="{FF2B5EF4-FFF2-40B4-BE49-F238E27FC236}">
                <a16:creationId xmlns:a16="http://schemas.microsoft.com/office/drawing/2014/main" id="{E19B5703-3C50-4EC5-E53B-F28831606A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6570" y="3175000"/>
            <a:ext cx="574230" cy="574230"/>
          </a:xfrm>
          <a:prstGeom prst="rect">
            <a:avLst/>
          </a:prstGeom>
        </p:spPr>
      </p:pic>
      <p:pic>
        <p:nvPicPr>
          <p:cNvPr id="82" name="Graphic 81" descr="Tick with solid fill">
            <a:extLst>
              <a:ext uri="{FF2B5EF4-FFF2-40B4-BE49-F238E27FC236}">
                <a16:creationId xmlns:a16="http://schemas.microsoft.com/office/drawing/2014/main" id="{9FB5FC00-F3B6-9E6B-6DF8-4D2430F1B5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0800" y="4414408"/>
            <a:ext cx="574230" cy="574230"/>
          </a:xfrm>
          <a:prstGeom prst="rect">
            <a:avLst/>
          </a:prstGeom>
        </p:spPr>
      </p:pic>
      <p:pic>
        <p:nvPicPr>
          <p:cNvPr id="84" name="Graphic 83" descr="Close with solid fill">
            <a:extLst>
              <a:ext uri="{FF2B5EF4-FFF2-40B4-BE49-F238E27FC236}">
                <a16:creationId xmlns:a16="http://schemas.microsoft.com/office/drawing/2014/main" id="{450B2231-A154-B4DF-E29D-DD6523EC2E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58562" y="4125139"/>
            <a:ext cx="507115" cy="507115"/>
          </a:xfrm>
          <a:prstGeom prst="rect">
            <a:avLst/>
          </a:prstGeom>
        </p:spPr>
      </p:pic>
      <p:pic>
        <p:nvPicPr>
          <p:cNvPr id="85" name="Graphic 84" descr="Close with solid fill">
            <a:extLst>
              <a:ext uri="{FF2B5EF4-FFF2-40B4-BE49-F238E27FC236}">
                <a16:creationId xmlns:a16="http://schemas.microsoft.com/office/drawing/2014/main" id="{96B021D1-2E58-7BAC-4E79-3395B54DC0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1456" y="3495672"/>
            <a:ext cx="507115" cy="507115"/>
          </a:xfrm>
          <a:prstGeom prst="rect">
            <a:avLst/>
          </a:prstGeom>
        </p:spPr>
      </p:pic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7284865-DE20-840C-F44B-16730BAD64CD}"/>
              </a:ext>
            </a:extLst>
          </p:cNvPr>
          <p:cNvCxnSpPr>
            <a:cxnSpLocks/>
          </p:cNvCxnSpPr>
          <p:nvPr/>
        </p:nvCxnSpPr>
        <p:spPr>
          <a:xfrm flipH="1">
            <a:off x="7155193" y="4120290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0C487AA-FE3C-49BD-2403-9700310EA823}"/>
              </a:ext>
            </a:extLst>
          </p:cNvPr>
          <p:cNvSpPr txBox="1"/>
          <p:nvPr/>
        </p:nvSpPr>
        <p:spPr>
          <a:xfrm>
            <a:off x="52244" y="3501459"/>
            <a:ext cx="450321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Mix the sample by hand to </a:t>
            </a:r>
            <a:r>
              <a:rPr lang="en-US" dirty="0" err="1"/>
              <a:t>homogenise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Gather into a cone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Flatten into a disc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Cut the disc into four quarters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Discard two opposite quarters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Gather remaining two quarters into a cone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Repeat until the sample volume has been sufficiently reduced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DE9D184-EFEE-1492-CE1F-D7E1346A97DF}"/>
              </a:ext>
            </a:extLst>
          </p:cNvPr>
          <p:cNvCxnSpPr>
            <a:cxnSpLocks/>
          </p:cNvCxnSpPr>
          <p:nvPr/>
        </p:nvCxnSpPr>
        <p:spPr>
          <a:xfrm flipH="1" flipV="1">
            <a:off x="2880710" y="2265633"/>
            <a:ext cx="2135742" cy="1483596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53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y pyramid shaped object&#10;&#10;Description automatically generated">
            <a:extLst>
              <a:ext uri="{FF2B5EF4-FFF2-40B4-BE49-F238E27FC236}">
                <a16:creationId xmlns:a16="http://schemas.microsoft.com/office/drawing/2014/main" id="{CEE2330F-3C1F-8148-2482-68C2A87CBE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1" t="3402" r="5287" b="3805"/>
          <a:stretch/>
        </p:blipFill>
        <p:spPr>
          <a:xfrm>
            <a:off x="670702" y="660399"/>
            <a:ext cx="2458995" cy="1272745"/>
          </a:xfrm>
          <a:prstGeom prst="rect">
            <a:avLst/>
          </a:prstGeom>
        </p:spPr>
      </p:pic>
      <p:pic>
        <p:nvPicPr>
          <p:cNvPr id="7" name="Picture 6" descr="A black and white image of a circle with a cross&#10;&#10;Description automatically generated">
            <a:extLst>
              <a:ext uri="{FF2B5EF4-FFF2-40B4-BE49-F238E27FC236}">
                <a16:creationId xmlns:a16="http://schemas.microsoft.com/office/drawing/2014/main" id="{E9891268-BE27-C101-C6F7-D59838B7C4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24" t="896" r="4162" b="3153"/>
          <a:stretch/>
        </p:blipFill>
        <p:spPr>
          <a:xfrm>
            <a:off x="4759728" y="129055"/>
            <a:ext cx="2434281" cy="2335427"/>
          </a:xfrm>
          <a:prstGeom prst="rect">
            <a:avLst/>
          </a:prstGeom>
        </p:spPr>
      </p:pic>
      <p:pic>
        <p:nvPicPr>
          <p:cNvPr id="9" name="Picture 8" descr="A black and white image of a circular object&#10;&#10;Description automatically generated">
            <a:extLst>
              <a:ext uri="{FF2B5EF4-FFF2-40B4-BE49-F238E27FC236}">
                <a16:creationId xmlns:a16="http://schemas.microsoft.com/office/drawing/2014/main" id="{C014F547-4830-A5BF-E473-6FCAF20AAC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52" t="12641" r="2703" b="9215"/>
          <a:stretch/>
        </p:blipFill>
        <p:spPr>
          <a:xfrm>
            <a:off x="8354044" y="675202"/>
            <a:ext cx="3793524" cy="1260390"/>
          </a:xfrm>
          <a:prstGeom prst="rect">
            <a:avLst/>
          </a:prstGeom>
        </p:spPr>
      </p:pic>
      <p:pic>
        <p:nvPicPr>
          <p:cNvPr id="11" name="Picture 10" descr="A group of grey objects&#10;&#10;Description automatically generated">
            <a:extLst>
              <a:ext uri="{FF2B5EF4-FFF2-40B4-BE49-F238E27FC236}">
                <a16:creationId xmlns:a16="http://schemas.microsoft.com/office/drawing/2014/main" id="{84289CE7-B590-B18B-EC15-3FD31349050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21" t="2728" r="2905" b="3054"/>
          <a:stretch/>
        </p:blipFill>
        <p:spPr>
          <a:xfrm>
            <a:off x="8459072" y="3175000"/>
            <a:ext cx="3583459" cy="1890584"/>
          </a:xfrm>
          <a:prstGeom prst="rect">
            <a:avLst/>
          </a:prstGeom>
        </p:spPr>
      </p:pic>
      <p:pic>
        <p:nvPicPr>
          <p:cNvPr id="12" name="Picture 11" descr="A grey pyramid shaped object&#10;&#10;Description automatically generated">
            <a:extLst>
              <a:ext uri="{FF2B5EF4-FFF2-40B4-BE49-F238E27FC236}">
                <a16:creationId xmlns:a16="http://schemas.microsoft.com/office/drawing/2014/main" id="{BE8C0B0B-8B61-93E4-1A84-3D21AE379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1" t="3402" r="5287" b="3805"/>
          <a:stretch/>
        </p:blipFill>
        <p:spPr>
          <a:xfrm flipH="1">
            <a:off x="5016452" y="3653440"/>
            <a:ext cx="1803945" cy="93369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610F75-E388-2A9E-7FB2-ECF36E3C3B04}"/>
              </a:ext>
            </a:extLst>
          </p:cNvPr>
          <p:cNvCxnSpPr>
            <a:cxnSpLocks/>
          </p:cNvCxnSpPr>
          <p:nvPr/>
        </p:nvCxnSpPr>
        <p:spPr>
          <a:xfrm>
            <a:off x="3555046" y="1305397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B453-B16A-1AEE-40AD-92F510C71CC9}"/>
              </a:ext>
            </a:extLst>
          </p:cNvPr>
          <p:cNvCxnSpPr>
            <a:cxnSpLocks/>
          </p:cNvCxnSpPr>
          <p:nvPr/>
        </p:nvCxnSpPr>
        <p:spPr>
          <a:xfrm>
            <a:off x="7384961" y="1296769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A0DBAB-DF0E-5C74-151E-57BA24DFA708}"/>
              </a:ext>
            </a:extLst>
          </p:cNvPr>
          <p:cNvCxnSpPr>
            <a:cxnSpLocks/>
          </p:cNvCxnSpPr>
          <p:nvPr/>
        </p:nvCxnSpPr>
        <p:spPr>
          <a:xfrm rot="5400000">
            <a:off x="9766260" y="2464481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Graphic 80" descr="Tick with solid fill">
            <a:extLst>
              <a:ext uri="{FF2B5EF4-FFF2-40B4-BE49-F238E27FC236}">
                <a16:creationId xmlns:a16="http://schemas.microsoft.com/office/drawing/2014/main" id="{E19B5703-3C50-4EC5-E53B-F28831606A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6570" y="3175000"/>
            <a:ext cx="574230" cy="574230"/>
          </a:xfrm>
          <a:prstGeom prst="rect">
            <a:avLst/>
          </a:prstGeom>
        </p:spPr>
      </p:pic>
      <p:pic>
        <p:nvPicPr>
          <p:cNvPr id="82" name="Graphic 81" descr="Tick with solid fill">
            <a:extLst>
              <a:ext uri="{FF2B5EF4-FFF2-40B4-BE49-F238E27FC236}">
                <a16:creationId xmlns:a16="http://schemas.microsoft.com/office/drawing/2014/main" id="{9FB5FC00-F3B6-9E6B-6DF8-4D2430F1B5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0800" y="4414408"/>
            <a:ext cx="574230" cy="574230"/>
          </a:xfrm>
          <a:prstGeom prst="rect">
            <a:avLst/>
          </a:prstGeom>
        </p:spPr>
      </p:pic>
      <p:pic>
        <p:nvPicPr>
          <p:cNvPr id="84" name="Graphic 83" descr="Close with solid fill">
            <a:extLst>
              <a:ext uri="{FF2B5EF4-FFF2-40B4-BE49-F238E27FC236}">
                <a16:creationId xmlns:a16="http://schemas.microsoft.com/office/drawing/2014/main" id="{450B2231-A154-B4DF-E29D-DD6523EC2E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58562" y="4125139"/>
            <a:ext cx="507115" cy="507115"/>
          </a:xfrm>
          <a:prstGeom prst="rect">
            <a:avLst/>
          </a:prstGeom>
        </p:spPr>
      </p:pic>
      <p:pic>
        <p:nvPicPr>
          <p:cNvPr id="85" name="Graphic 84" descr="Close with solid fill">
            <a:extLst>
              <a:ext uri="{FF2B5EF4-FFF2-40B4-BE49-F238E27FC236}">
                <a16:creationId xmlns:a16="http://schemas.microsoft.com/office/drawing/2014/main" id="{96B021D1-2E58-7BAC-4E79-3395B54DC0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1456" y="3495672"/>
            <a:ext cx="507115" cy="507115"/>
          </a:xfrm>
          <a:prstGeom prst="rect">
            <a:avLst/>
          </a:prstGeom>
        </p:spPr>
      </p:pic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7284865-DE20-840C-F44B-16730BAD64CD}"/>
              </a:ext>
            </a:extLst>
          </p:cNvPr>
          <p:cNvCxnSpPr>
            <a:cxnSpLocks/>
          </p:cNvCxnSpPr>
          <p:nvPr/>
        </p:nvCxnSpPr>
        <p:spPr>
          <a:xfrm flipH="1">
            <a:off x="7155193" y="4120290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0C487AA-FE3C-49BD-2403-9700310EA823}"/>
              </a:ext>
            </a:extLst>
          </p:cNvPr>
          <p:cNvSpPr txBox="1"/>
          <p:nvPr/>
        </p:nvSpPr>
        <p:spPr>
          <a:xfrm>
            <a:off x="81697" y="3311257"/>
            <a:ext cx="4503217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Misture</a:t>
            </a:r>
            <a:r>
              <a:rPr lang="en-US" dirty="0"/>
              <a:t> a </a:t>
            </a:r>
            <a:r>
              <a:rPr lang="en-US" dirty="0" err="1"/>
              <a:t>amostra</a:t>
            </a:r>
            <a:r>
              <a:rPr lang="en-US" dirty="0"/>
              <a:t> </a:t>
            </a:r>
            <a:r>
              <a:rPr lang="en-US" dirty="0" err="1"/>
              <a:t>manualmente</a:t>
            </a:r>
            <a:r>
              <a:rPr lang="en-US" dirty="0"/>
              <a:t> para </a:t>
            </a:r>
            <a:r>
              <a:rPr lang="en-US" dirty="0" err="1"/>
              <a:t>homogeneizar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Reunir</a:t>
            </a:r>
            <a:r>
              <a:rPr lang="en-US" dirty="0"/>
              <a:t> -se para </a:t>
            </a:r>
            <a:r>
              <a:rPr lang="en-US" dirty="0" err="1"/>
              <a:t>fazer</a:t>
            </a:r>
            <a:r>
              <a:rPr lang="en-US" dirty="0"/>
              <a:t> um cone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Achate</a:t>
            </a:r>
            <a:r>
              <a:rPr lang="en-US" dirty="0"/>
              <a:t> -se para </a:t>
            </a:r>
            <a:r>
              <a:rPr lang="en-US" dirty="0" err="1"/>
              <a:t>fazer</a:t>
            </a:r>
            <a:r>
              <a:rPr lang="en-US" dirty="0"/>
              <a:t> um disco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Corte o disco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quatro</a:t>
            </a:r>
            <a:r>
              <a:rPr lang="en-US" dirty="0"/>
              <a:t> quartos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Descarte</a:t>
            </a:r>
            <a:r>
              <a:rPr lang="en-US" dirty="0"/>
              <a:t> </a:t>
            </a:r>
            <a:r>
              <a:rPr lang="en-US" dirty="0" err="1"/>
              <a:t>dois</a:t>
            </a:r>
            <a:r>
              <a:rPr lang="en-US" dirty="0"/>
              <a:t> quartos </a:t>
            </a:r>
            <a:r>
              <a:rPr lang="en-US" dirty="0" err="1"/>
              <a:t>opostos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Reunir</a:t>
            </a:r>
            <a:r>
              <a:rPr lang="en-US" dirty="0"/>
              <a:t> </a:t>
            </a:r>
            <a:r>
              <a:rPr lang="en-US" dirty="0" err="1"/>
              <a:t>dois</a:t>
            </a:r>
            <a:r>
              <a:rPr lang="en-US" dirty="0"/>
              <a:t> quartos </a:t>
            </a:r>
            <a:r>
              <a:rPr lang="en-US" dirty="0" err="1"/>
              <a:t>restantes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um cone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Repita</a:t>
            </a:r>
            <a:r>
              <a:rPr lang="en-US" dirty="0"/>
              <a:t> </a:t>
            </a:r>
            <a:r>
              <a:rPr lang="en-US" dirty="0" err="1"/>
              <a:t>até</a:t>
            </a:r>
            <a:r>
              <a:rPr lang="en-US" dirty="0"/>
              <a:t> que o volume da </a:t>
            </a:r>
            <a:r>
              <a:rPr lang="en-US" dirty="0" err="1"/>
              <a:t>amostra</a:t>
            </a:r>
            <a:r>
              <a:rPr lang="en-US" dirty="0"/>
              <a:t> </a:t>
            </a:r>
            <a:r>
              <a:rPr lang="en-US" dirty="0" err="1"/>
              <a:t>tenha</a:t>
            </a:r>
            <a:r>
              <a:rPr lang="en-US" dirty="0"/>
              <a:t> </a:t>
            </a:r>
            <a:r>
              <a:rPr lang="en-US" dirty="0" err="1"/>
              <a:t>sido</a:t>
            </a:r>
            <a:r>
              <a:rPr lang="en-US" dirty="0"/>
              <a:t> </a:t>
            </a:r>
            <a:r>
              <a:rPr lang="en-US" dirty="0" err="1"/>
              <a:t>suficientemente</a:t>
            </a:r>
            <a:r>
              <a:rPr lang="en-US" dirty="0"/>
              <a:t> </a:t>
            </a:r>
            <a:r>
              <a:rPr lang="en-US" dirty="0" err="1"/>
              <a:t>reduzido</a:t>
            </a:r>
            <a:endParaRPr lang="en-US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DE9D184-EFEE-1492-CE1F-D7E1346A97DF}"/>
              </a:ext>
            </a:extLst>
          </p:cNvPr>
          <p:cNvCxnSpPr>
            <a:cxnSpLocks/>
          </p:cNvCxnSpPr>
          <p:nvPr/>
        </p:nvCxnSpPr>
        <p:spPr>
          <a:xfrm flipH="1" flipV="1">
            <a:off x="2880710" y="2265633"/>
            <a:ext cx="2135742" cy="1483596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735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y pyramid shaped object&#10;&#10;Description automatically generated">
            <a:extLst>
              <a:ext uri="{FF2B5EF4-FFF2-40B4-BE49-F238E27FC236}">
                <a16:creationId xmlns:a16="http://schemas.microsoft.com/office/drawing/2014/main" id="{CEE2330F-3C1F-8148-2482-68C2A87CBE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1" t="3402" r="5287" b="3805"/>
          <a:stretch/>
        </p:blipFill>
        <p:spPr>
          <a:xfrm>
            <a:off x="670702" y="660399"/>
            <a:ext cx="2458995" cy="1272745"/>
          </a:xfrm>
          <a:prstGeom prst="rect">
            <a:avLst/>
          </a:prstGeom>
        </p:spPr>
      </p:pic>
      <p:pic>
        <p:nvPicPr>
          <p:cNvPr id="7" name="Picture 6" descr="A black and white image of a circle with a cross&#10;&#10;Description automatically generated">
            <a:extLst>
              <a:ext uri="{FF2B5EF4-FFF2-40B4-BE49-F238E27FC236}">
                <a16:creationId xmlns:a16="http://schemas.microsoft.com/office/drawing/2014/main" id="{E9891268-BE27-C101-C6F7-D59838B7C4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24" t="896" r="4162" b="3153"/>
          <a:stretch/>
        </p:blipFill>
        <p:spPr>
          <a:xfrm>
            <a:off x="4759728" y="129055"/>
            <a:ext cx="2434281" cy="2335427"/>
          </a:xfrm>
          <a:prstGeom prst="rect">
            <a:avLst/>
          </a:prstGeom>
        </p:spPr>
      </p:pic>
      <p:pic>
        <p:nvPicPr>
          <p:cNvPr id="9" name="Picture 8" descr="A black and white image of a circular object&#10;&#10;Description automatically generated">
            <a:extLst>
              <a:ext uri="{FF2B5EF4-FFF2-40B4-BE49-F238E27FC236}">
                <a16:creationId xmlns:a16="http://schemas.microsoft.com/office/drawing/2014/main" id="{C014F547-4830-A5BF-E473-6FCAF20AAC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52" t="12641" r="2703" b="9215"/>
          <a:stretch/>
        </p:blipFill>
        <p:spPr>
          <a:xfrm>
            <a:off x="8354044" y="675202"/>
            <a:ext cx="3793524" cy="1260390"/>
          </a:xfrm>
          <a:prstGeom prst="rect">
            <a:avLst/>
          </a:prstGeom>
        </p:spPr>
      </p:pic>
      <p:pic>
        <p:nvPicPr>
          <p:cNvPr id="11" name="Picture 10" descr="A group of grey objects&#10;&#10;Description automatically generated">
            <a:extLst>
              <a:ext uri="{FF2B5EF4-FFF2-40B4-BE49-F238E27FC236}">
                <a16:creationId xmlns:a16="http://schemas.microsoft.com/office/drawing/2014/main" id="{84289CE7-B590-B18B-EC15-3FD31349050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21" t="2728" r="2905" b="3054"/>
          <a:stretch/>
        </p:blipFill>
        <p:spPr>
          <a:xfrm>
            <a:off x="8459072" y="3175000"/>
            <a:ext cx="3583459" cy="1890584"/>
          </a:xfrm>
          <a:prstGeom prst="rect">
            <a:avLst/>
          </a:prstGeom>
        </p:spPr>
      </p:pic>
      <p:pic>
        <p:nvPicPr>
          <p:cNvPr id="12" name="Picture 11" descr="A grey pyramid shaped object&#10;&#10;Description automatically generated">
            <a:extLst>
              <a:ext uri="{FF2B5EF4-FFF2-40B4-BE49-F238E27FC236}">
                <a16:creationId xmlns:a16="http://schemas.microsoft.com/office/drawing/2014/main" id="{BE8C0B0B-8B61-93E4-1A84-3D21AE379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1" t="3402" r="5287" b="3805"/>
          <a:stretch/>
        </p:blipFill>
        <p:spPr>
          <a:xfrm flipH="1">
            <a:off x="5016452" y="3653440"/>
            <a:ext cx="1803945" cy="93369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610F75-E388-2A9E-7FB2-ECF36E3C3B04}"/>
              </a:ext>
            </a:extLst>
          </p:cNvPr>
          <p:cNvCxnSpPr>
            <a:cxnSpLocks/>
          </p:cNvCxnSpPr>
          <p:nvPr/>
        </p:nvCxnSpPr>
        <p:spPr>
          <a:xfrm>
            <a:off x="3555046" y="1305397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B453-B16A-1AEE-40AD-92F510C71CC9}"/>
              </a:ext>
            </a:extLst>
          </p:cNvPr>
          <p:cNvCxnSpPr>
            <a:cxnSpLocks/>
          </p:cNvCxnSpPr>
          <p:nvPr/>
        </p:nvCxnSpPr>
        <p:spPr>
          <a:xfrm>
            <a:off x="7384961" y="1296769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A0DBAB-DF0E-5C74-151E-57BA24DFA708}"/>
              </a:ext>
            </a:extLst>
          </p:cNvPr>
          <p:cNvCxnSpPr>
            <a:cxnSpLocks/>
          </p:cNvCxnSpPr>
          <p:nvPr/>
        </p:nvCxnSpPr>
        <p:spPr>
          <a:xfrm rot="5400000">
            <a:off x="9766260" y="2464481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Graphic 80" descr="Tick with solid fill">
            <a:extLst>
              <a:ext uri="{FF2B5EF4-FFF2-40B4-BE49-F238E27FC236}">
                <a16:creationId xmlns:a16="http://schemas.microsoft.com/office/drawing/2014/main" id="{E19B5703-3C50-4EC5-E53B-F28831606A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6570" y="3175000"/>
            <a:ext cx="574230" cy="574230"/>
          </a:xfrm>
          <a:prstGeom prst="rect">
            <a:avLst/>
          </a:prstGeom>
        </p:spPr>
      </p:pic>
      <p:pic>
        <p:nvPicPr>
          <p:cNvPr id="82" name="Graphic 81" descr="Tick with solid fill">
            <a:extLst>
              <a:ext uri="{FF2B5EF4-FFF2-40B4-BE49-F238E27FC236}">
                <a16:creationId xmlns:a16="http://schemas.microsoft.com/office/drawing/2014/main" id="{9FB5FC00-F3B6-9E6B-6DF8-4D2430F1B5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0800" y="4414408"/>
            <a:ext cx="574230" cy="574230"/>
          </a:xfrm>
          <a:prstGeom prst="rect">
            <a:avLst/>
          </a:prstGeom>
        </p:spPr>
      </p:pic>
      <p:pic>
        <p:nvPicPr>
          <p:cNvPr id="84" name="Graphic 83" descr="Close with solid fill">
            <a:extLst>
              <a:ext uri="{FF2B5EF4-FFF2-40B4-BE49-F238E27FC236}">
                <a16:creationId xmlns:a16="http://schemas.microsoft.com/office/drawing/2014/main" id="{450B2231-A154-B4DF-E29D-DD6523EC2E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58562" y="4125139"/>
            <a:ext cx="507115" cy="507115"/>
          </a:xfrm>
          <a:prstGeom prst="rect">
            <a:avLst/>
          </a:prstGeom>
        </p:spPr>
      </p:pic>
      <p:pic>
        <p:nvPicPr>
          <p:cNvPr id="85" name="Graphic 84" descr="Close with solid fill">
            <a:extLst>
              <a:ext uri="{FF2B5EF4-FFF2-40B4-BE49-F238E27FC236}">
                <a16:creationId xmlns:a16="http://schemas.microsoft.com/office/drawing/2014/main" id="{96B021D1-2E58-7BAC-4E79-3395B54DC0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1456" y="3495672"/>
            <a:ext cx="507115" cy="507115"/>
          </a:xfrm>
          <a:prstGeom prst="rect">
            <a:avLst/>
          </a:prstGeom>
        </p:spPr>
      </p:pic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7284865-DE20-840C-F44B-16730BAD64CD}"/>
              </a:ext>
            </a:extLst>
          </p:cNvPr>
          <p:cNvCxnSpPr>
            <a:cxnSpLocks/>
          </p:cNvCxnSpPr>
          <p:nvPr/>
        </p:nvCxnSpPr>
        <p:spPr>
          <a:xfrm flipH="1">
            <a:off x="7155193" y="4120290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0C487AA-FE3C-49BD-2403-9700310EA823}"/>
              </a:ext>
            </a:extLst>
          </p:cNvPr>
          <p:cNvSpPr txBox="1"/>
          <p:nvPr/>
        </p:nvSpPr>
        <p:spPr>
          <a:xfrm>
            <a:off x="69647" y="3007431"/>
            <a:ext cx="45032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Mélanger</a:t>
            </a:r>
            <a:r>
              <a:rPr lang="en-US" dirty="0"/>
              <a:t> </a:t>
            </a:r>
            <a:r>
              <a:rPr lang="en-US" dirty="0" err="1"/>
              <a:t>l'échantillon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la main pour </a:t>
            </a:r>
            <a:r>
              <a:rPr lang="en-US" dirty="0" err="1"/>
              <a:t>homogénéise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Se </a:t>
            </a:r>
            <a:r>
              <a:rPr lang="en-US" dirty="0" err="1"/>
              <a:t>rassembler</a:t>
            </a:r>
            <a:r>
              <a:rPr lang="en-US" dirty="0"/>
              <a:t> pour faire un </a:t>
            </a:r>
            <a:r>
              <a:rPr lang="en-US" dirty="0" err="1"/>
              <a:t>cône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Aplatir</a:t>
            </a:r>
            <a:r>
              <a:rPr lang="en-US" dirty="0"/>
              <a:t> pour faire un </a:t>
            </a:r>
            <a:r>
              <a:rPr lang="en-US" dirty="0" err="1"/>
              <a:t>disque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Coupez</a:t>
            </a:r>
            <a:r>
              <a:rPr lang="en-US" dirty="0"/>
              <a:t> le </a:t>
            </a:r>
            <a:r>
              <a:rPr lang="en-US" dirty="0" err="1"/>
              <a:t>disque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quatre quartiers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Jeter deux quartiers </a:t>
            </a:r>
            <a:r>
              <a:rPr lang="en-US" dirty="0" err="1"/>
              <a:t>opposés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Rassemblez</a:t>
            </a:r>
            <a:r>
              <a:rPr lang="en-US" dirty="0"/>
              <a:t> les deux quartiers </a:t>
            </a:r>
            <a:r>
              <a:rPr lang="en-US" dirty="0" err="1"/>
              <a:t>restants</a:t>
            </a:r>
            <a:r>
              <a:rPr lang="en-US" dirty="0"/>
              <a:t> dans un </a:t>
            </a:r>
            <a:r>
              <a:rPr lang="en-US" dirty="0" err="1"/>
              <a:t>cône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Répéter</a:t>
            </a:r>
            <a:r>
              <a:rPr lang="en-US" dirty="0"/>
              <a:t> </a:t>
            </a:r>
            <a:r>
              <a:rPr lang="en-US" dirty="0" err="1"/>
              <a:t>jusqu'à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que le volume de </a:t>
            </a:r>
            <a:r>
              <a:rPr lang="en-US" dirty="0" err="1"/>
              <a:t>l'échantillon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suffisamment</a:t>
            </a:r>
            <a:r>
              <a:rPr lang="en-US" dirty="0"/>
              <a:t> </a:t>
            </a:r>
            <a:r>
              <a:rPr lang="en-US" dirty="0" err="1"/>
              <a:t>réduit</a:t>
            </a:r>
            <a:endParaRPr lang="en-US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DE9D184-EFEE-1492-CE1F-D7E1346A97DF}"/>
              </a:ext>
            </a:extLst>
          </p:cNvPr>
          <p:cNvCxnSpPr>
            <a:cxnSpLocks/>
          </p:cNvCxnSpPr>
          <p:nvPr/>
        </p:nvCxnSpPr>
        <p:spPr>
          <a:xfrm flipH="1" flipV="1">
            <a:off x="2880710" y="2265633"/>
            <a:ext cx="2135742" cy="1483596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03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y pyramid shaped object&#10;&#10;Description automatically generated">
            <a:extLst>
              <a:ext uri="{FF2B5EF4-FFF2-40B4-BE49-F238E27FC236}">
                <a16:creationId xmlns:a16="http://schemas.microsoft.com/office/drawing/2014/main" id="{CEE2330F-3C1F-8148-2482-68C2A87CBE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1" t="3402" r="5287" b="3805"/>
          <a:stretch/>
        </p:blipFill>
        <p:spPr>
          <a:xfrm>
            <a:off x="670702" y="660399"/>
            <a:ext cx="2458995" cy="1272745"/>
          </a:xfrm>
          <a:prstGeom prst="rect">
            <a:avLst/>
          </a:prstGeom>
        </p:spPr>
      </p:pic>
      <p:pic>
        <p:nvPicPr>
          <p:cNvPr id="7" name="Picture 6" descr="A black and white image of a circle with a cross&#10;&#10;Description automatically generated">
            <a:extLst>
              <a:ext uri="{FF2B5EF4-FFF2-40B4-BE49-F238E27FC236}">
                <a16:creationId xmlns:a16="http://schemas.microsoft.com/office/drawing/2014/main" id="{E9891268-BE27-C101-C6F7-D59838B7C4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24" t="896" r="4162" b="3153"/>
          <a:stretch/>
        </p:blipFill>
        <p:spPr>
          <a:xfrm>
            <a:off x="4759728" y="129055"/>
            <a:ext cx="2434281" cy="2335427"/>
          </a:xfrm>
          <a:prstGeom prst="rect">
            <a:avLst/>
          </a:prstGeom>
        </p:spPr>
      </p:pic>
      <p:pic>
        <p:nvPicPr>
          <p:cNvPr id="9" name="Picture 8" descr="A black and white image of a circular object&#10;&#10;Description automatically generated">
            <a:extLst>
              <a:ext uri="{FF2B5EF4-FFF2-40B4-BE49-F238E27FC236}">
                <a16:creationId xmlns:a16="http://schemas.microsoft.com/office/drawing/2014/main" id="{C014F547-4830-A5BF-E473-6FCAF20AAC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52" t="12641" r="2703" b="9215"/>
          <a:stretch/>
        </p:blipFill>
        <p:spPr>
          <a:xfrm>
            <a:off x="8354044" y="675202"/>
            <a:ext cx="3793524" cy="1260390"/>
          </a:xfrm>
          <a:prstGeom prst="rect">
            <a:avLst/>
          </a:prstGeom>
        </p:spPr>
      </p:pic>
      <p:pic>
        <p:nvPicPr>
          <p:cNvPr id="11" name="Picture 10" descr="A group of grey objects&#10;&#10;Description automatically generated">
            <a:extLst>
              <a:ext uri="{FF2B5EF4-FFF2-40B4-BE49-F238E27FC236}">
                <a16:creationId xmlns:a16="http://schemas.microsoft.com/office/drawing/2014/main" id="{84289CE7-B590-B18B-EC15-3FD31349050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21" t="2728" r="2905" b="3054"/>
          <a:stretch/>
        </p:blipFill>
        <p:spPr>
          <a:xfrm>
            <a:off x="8459072" y="3175000"/>
            <a:ext cx="3583459" cy="1890584"/>
          </a:xfrm>
          <a:prstGeom prst="rect">
            <a:avLst/>
          </a:prstGeom>
        </p:spPr>
      </p:pic>
      <p:pic>
        <p:nvPicPr>
          <p:cNvPr id="12" name="Picture 11" descr="A grey pyramid shaped object&#10;&#10;Description automatically generated">
            <a:extLst>
              <a:ext uri="{FF2B5EF4-FFF2-40B4-BE49-F238E27FC236}">
                <a16:creationId xmlns:a16="http://schemas.microsoft.com/office/drawing/2014/main" id="{BE8C0B0B-8B61-93E4-1A84-3D21AE379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1" t="3402" r="5287" b="3805"/>
          <a:stretch/>
        </p:blipFill>
        <p:spPr>
          <a:xfrm flipH="1">
            <a:off x="5016452" y="3653440"/>
            <a:ext cx="1803945" cy="93369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610F75-E388-2A9E-7FB2-ECF36E3C3B04}"/>
              </a:ext>
            </a:extLst>
          </p:cNvPr>
          <p:cNvCxnSpPr>
            <a:cxnSpLocks/>
          </p:cNvCxnSpPr>
          <p:nvPr/>
        </p:nvCxnSpPr>
        <p:spPr>
          <a:xfrm>
            <a:off x="3555046" y="1305397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B453-B16A-1AEE-40AD-92F510C71CC9}"/>
              </a:ext>
            </a:extLst>
          </p:cNvPr>
          <p:cNvCxnSpPr>
            <a:cxnSpLocks/>
          </p:cNvCxnSpPr>
          <p:nvPr/>
        </p:nvCxnSpPr>
        <p:spPr>
          <a:xfrm>
            <a:off x="7384961" y="1296769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A0DBAB-DF0E-5C74-151E-57BA24DFA708}"/>
              </a:ext>
            </a:extLst>
          </p:cNvPr>
          <p:cNvCxnSpPr>
            <a:cxnSpLocks/>
          </p:cNvCxnSpPr>
          <p:nvPr/>
        </p:nvCxnSpPr>
        <p:spPr>
          <a:xfrm rot="5400000">
            <a:off x="9766260" y="2464481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Graphic 80" descr="Tick with solid fill">
            <a:extLst>
              <a:ext uri="{FF2B5EF4-FFF2-40B4-BE49-F238E27FC236}">
                <a16:creationId xmlns:a16="http://schemas.microsoft.com/office/drawing/2014/main" id="{E19B5703-3C50-4EC5-E53B-F28831606A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6570" y="3175000"/>
            <a:ext cx="574230" cy="574230"/>
          </a:xfrm>
          <a:prstGeom prst="rect">
            <a:avLst/>
          </a:prstGeom>
        </p:spPr>
      </p:pic>
      <p:pic>
        <p:nvPicPr>
          <p:cNvPr id="82" name="Graphic 81" descr="Tick with solid fill">
            <a:extLst>
              <a:ext uri="{FF2B5EF4-FFF2-40B4-BE49-F238E27FC236}">
                <a16:creationId xmlns:a16="http://schemas.microsoft.com/office/drawing/2014/main" id="{9FB5FC00-F3B6-9E6B-6DF8-4D2430F1B5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50800" y="4414408"/>
            <a:ext cx="574230" cy="574230"/>
          </a:xfrm>
          <a:prstGeom prst="rect">
            <a:avLst/>
          </a:prstGeom>
        </p:spPr>
      </p:pic>
      <p:pic>
        <p:nvPicPr>
          <p:cNvPr id="84" name="Graphic 83" descr="Close with solid fill">
            <a:extLst>
              <a:ext uri="{FF2B5EF4-FFF2-40B4-BE49-F238E27FC236}">
                <a16:creationId xmlns:a16="http://schemas.microsoft.com/office/drawing/2014/main" id="{450B2231-A154-B4DF-E29D-DD6523EC2E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58562" y="4125139"/>
            <a:ext cx="507115" cy="507115"/>
          </a:xfrm>
          <a:prstGeom prst="rect">
            <a:avLst/>
          </a:prstGeom>
        </p:spPr>
      </p:pic>
      <p:pic>
        <p:nvPicPr>
          <p:cNvPr id="85" name="Graphic 84" descr="Close with solid fill">
            <a:extLst>
              <a:ext uri="{FF2B5EF4-FFF2-40B4-BE49-F238E27FC236}">
                <a16:creationId xmlns:a16="http://schemas.microsoft.com/office/drawing/2014/main" id="{96B021D1-2E58-7BAC-4E79-3395B54DC0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1456" y="3495672"/>
            <a:ext cx="507115" cy="507115"/>
          </a:xfrm>
          <a:prstGeom prst="rect">
            <a:avLst/>
          </a:prstGeom>
        </p:spPr>
      </p:pic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7284865-DE20-840C-F44B-16730BAD64CD}"/>
              </a:ext>
            </a:extLst>
          </p:cNvPr>
          <p:cNvCxnSpPr>
            <a:cxnSpLocks/>
          </p:cNvCxnSpPr>
          <p:nvPr/>
        </p:nvCxnSpPr>
        <p:spPr>
          <a:xfrm flipH="1">
            <a:off x="7155193" y="4120290"/>
            <a:ext cx="969083" cy="2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0C487AA-FE3C-49BD-2403-9700310EA823}"/>
              </a:ext>
            </a:extLst>
          </p:cNvPr>
          <p:cNvSpPr txBox="1"/>
          <p:nvPr/>
        </p:nvSpPr>
        <p:spPr>
          <a:xfrm>
            <a:off x="82596" y="3175000"/>
            <a:ext cx="4503217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Mezcle</a:t>
            </a:r>
            <a:r>
              <a:rPr lang="en-US" dirty="0"/>
              <a:t> la </a:t>
            </a:r>
            <a:r>
              <a:rPr lang="en-US" dirty="0" err="1"/>
              <a:t>muestra</a:t>
            </a:r>
            <a:r>
              <a:rPr lang="en-US" dirty="0"/>
              <a:t> a mano para </a:t>
            </a:r>
            <a:r>
              <a:rPr lang="en-US" dirty="0" err="1"/>
              <a:t>homogeneizar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Reúne</a:t>
            </a:r>
            <a:r>
              <a:rPr lang="en-US" dirty="0"/>
              <a:t> para </a:t>
            </a:r>
            <a:r>
              <a:rPr lang="en-US" dirty="0" err="1"/>
              <a:t>hacer</a:t>
            </a:r>
            <a:r>
              <a:rPr lang="en-US" dirty="0"/>
              <a:t> un </a:t>
            </a:r>
            <a:r>
              <a:rPr lang="en-US" dirty="0" err="1"/>
              <a:t>cono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Aplanar</a:t>
            </a:r>
            <a:r>
              <a:rPr lang="en-US" dirty="0"/>
              <a:t> para </a:t>
            </a:r>
            <a:r>
              <a:rPr lang="en-US" dirty="0" err="1"/>
              <a:t>hacer</a:t>
            </a:r>
            <a:r>
              <a:rPr lang="en-US" dirty="0"/>
              <a:t> un disco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Corta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disco </a:t>
            </a:r>
            <a:r>
              <a:rPr lang="en-US" dirty="0" err="1"/>
              <a:t>en</a:t>
            </a:r>
            <a:r>
              <a:rPr lang="en-US" dirty="0"/>
              <a:t> cuatro </a:t>
            </a:r>
            <a:r>
              <a:rPr lang="en-US" dirty="0" err="1"/>
              <a:t>cuartos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Deseche</a:t>
            </a:r>
            <a:r>
              <a:rPr lang="en-US" dirty="0"/>
              <a:t> dos </a:t>
            </a:r>
            <a:r>
              <a:rPr lang="en-US" dirty="0" err="1"/>
              <a:t>cuartos</a:t>
            </a:r>
            <a:r>
              <a:rPr lang="en-US" dirty="0"/>
              <a:t> </a:t>
            </a:r>
            <a:r>
              <a:rPr lang="en-US" dirty="0" err="1"/>
              <a:t>opuestos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Reúna</a:t>
            </a:r>
            <a:r>
              <a:rPr lang="en-US" dirty="0"/>
              <a:t> dos </a:t>
            </a:r>
            <a:r>
              <a:rPr lang="en-US" dirty="0" err="1"/>
              <a:t>cuartos</a:t>
            </a:r>
            <a:r>
              <a:rPr lang="en-US" dirty="0"/>
              <a:t> </a:t>
            </a:r>
            <a:r>
              <a:rPr lang="en-US" dirty="0" err="1"/>
              <a:t>restantes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cono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Repita</a:t>
            </a:r>
            <a:r>
              <a:rPr lang="en-US" dirty="0"/>
              <a:t> hasta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volumen</a:t>
            </a:r>
            <a:r>
              <a:rPr lang="en-US" dirty="0"/>
              <a:t> de la </a:t>
            </a:r>
            <a:r>
              <a:rPr lang="en-US" dirty="0" err="1"/>
              <a:t>muestra</a:t>
            </a:r>
            <a:r>
              <a:rPr lang="en-US" dirty="0"/>
              <a:t> se </a:t>
            </a:r>
            <a:r>
              <a:rPr lang="en-US" dirty="0" err="1"/>
              <a:t>haya</a:t>
            </a:r>
            <a:r>
              <a:rPr lang="en-US" dirty="0"/>
              <a:t> </a:t>
            </a:r>
            <a:r>
              <a:rPr lang="en-US" dirty="0" err="1"/>
              <a:t>reducido</a:t>
            </a:r>
            <a:r>
              <a:rPr lang="en-US" dirty="0"/>
              <a:t> </a:t>
            </a:r>
            <a:r>
              <a:rPr lang="en-US" dirty="0" err="1"/>
              <a:t>suficientemente</a:t>
            </a:r>
            <a:endParaRPr lang="en-US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DE9D184-EFEE-1492-CE1F-D7E1346A97DF}"/>
              </a:ext>
            </a:extLst>
          </p:cNvPr>
          <p:cNvCxnSpPr>
            <a:cxnSpLocks/>
          </p:cNvCxnSpPr>
          <p:nvPr/>
        </p:nvCxnSpPr>
        <p:spPr>
          <a:xfrm flipH="1" flipV="1">
            <a:off x="2880710" y="2265633"/>
            <a:ext cx="2135742" cy="1483596"/>
          </a:xfrm>
          <a:prstGeom prst="straightConnector1">
            <a:avLst/>
          </a:prstGeom>
          <a:ln w="53975" cap="flat">
            <a:solidFill>
              <a:schemeClr val="tx1"/>
            </a:solidFill>
            <a:miter lim="800000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512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183</Words>
  <Application>Microsoft Macintosh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Godlee</dc:creator>
  <cp:lastModifiedBy>John Godlee</cp:lastModifiedBy>
  <cp:revision>3</cp:revision>
  <dcterms:created xsi:type="dcterms:W3CDTF">2023-07-27T15:31:46Z</dcterms:created>
  <dcterms:modified xsi:type="dcterms:W3CDTF">2023-07-28T07:12:05Z</dcterms:modified>
</cp:coreProperties>
</file>